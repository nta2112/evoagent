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4DB00-74C3-49D3-8F7F-8DE214658855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8BF72-85E0-436F-9E43-8F3974E34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124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4DB00-74C3-49D3-8F7F-8DE214658855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8BF72-85E0-436F-9E43-8F3974E34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352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4DB00-74C3-49D3-8F7F-8DE214658855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8BF72-85E0-436F-9E43-8F3974E34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340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4DB00-74C3-49D3-8F7F-8DE214658855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8BF72-85E0-436F-9E43-8F3974E34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63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4DB00-74C3-49D3-8F7F-8DE214658855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8BF72-85E0-436F-9E43-8F3974E34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875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4DB00-74C3-49D3-8F7F-8DE214658855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8BF72-85E0-436F-9E43-8F3974E34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674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4DB00-74C3-49D3-8F7F-8DE214658855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8BF72-85E0-436F-9E43-8F3974E34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60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4DB00-74C3-49D3-8F7F-8DE214658855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8BF72-85E0-436F-9E43-8F3974E34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655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4DB00-74C3-49D3-8F7F-8DE214658855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8BF72-85E0-436F-9E43-8F3974E34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576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4DB00-74C3-49D3-8F7F-8DE214658855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8BF72-85E0-436F-9E43-8F3974E34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942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4DB00-74C3-49D3-8F7F-8DE214658855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8BF72-85E0-436F-9E43-8F3974E34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91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4DB00-74C3-49D3-8F7F-8DE214658855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A8BF72-85E0-436F-9E43-8F3974E34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987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iming-lab/ReAgent-V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EvoAgent</a:t>
            </a:r>
            <a:r>
              <a:rPr lang="en-US" dirty="0" smtClean="0"/>
              <a:t>: Self-Evolving Tool Administration for Generalized Multimodal Retrieval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117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728134" y="956734"/>
            <a:ext cx="2489199" cy="7366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400" b="1" dirty="0" smtClean="0"/>
              <a:t>Query text:</a:t>
            </a:r>
            <a:r>
              <a:rPr lang="en-US" sz="1400" dirty="0" smtClean="0"/>
              <a:t> A group of people are discussing food-related issues.</a:t>
            </a:r>
            <a:endParaRPr lang="en-US" sz="1400" dirty="0"/>
          </a:p>
        </p:txBody>
      </p:sp>
      <p:sp>
        <p:nvSpPr>
          <p:cNvPr id="5" name="Rounded Rectangle 4"/>
          <p:cNvSpPr/>
          <p:nvPr/>
        </p:nvSpPr>
        <p:spPr>
          <a:xfrm>
            <a:off x="728134" y="1845734"/>
            <a:ext cx="2489199" cy="7366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400" b="1" dirty="0" smtClean="0"/>
              <a:t>Query image:</a:t>
            </a:r>
            <a:endParaRPr lang="en-US" sz="1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214" y="1908020"/>
            <a:ext cx="822854" cy="61202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28133" y="2734734"/>
            <a:ext cx="2489200" cy="7366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2567" y="2814373"/>
            <a:ext cx="767436" cy="57732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156594" y="2918367"/>
            <a:ext cx="10840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 smtClean="0"/>
              <a:t>EvoAgent</a:t>
            </a:r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3890434" y="2307683"/>
            <a:ext cx="2692400" cy="135043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4334934" y="2101044"/>
            <a:ext cx="1803400" cy="338666"/>
          </a:xfrm>
          <a:prstGeom prst="round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Tool Administration</a:t>
            </a:r>
            <a:endParaRPr lang="en-US" sz="14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3989918" y="2498632"/>
            <a:ext cx="2529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rgbClr val="00B050"/>
                </a:solidFill>
              </a:rPr>
              <a:t>View agent: </a:t>
            </a:r>
            <a:r>
              <a:rPr lang="en-US" sz="1400" dirty="0" smtClean="0"/>
              <a:t>image scene, text </a:t>
            </a:r>
            <a:endParaRPr lang="en-US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3989918" y="2739138"/>
            <a:ext cx="2529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rgbClr val="00B050"/>
                </a:solidFill>
              </a:rPr>
              <a:t>Rule agent: </a:t>
            </a:r>
            <a:r>
              <a:rPr lang="en-US" sz="1400" dirty="0" smtClean="0"/>
              <a:t>assign task</a:t>
            </a:r>
            <a:endParaRPr lang="en-US" sz="1400" dirty="0"/>
          </a:p>
        </p:txBody>
      </p:sp>
      <p:sp>
        <p:nvSpPr>
          <p:cNvPr id="14" name="TextBox 13"/>
          <p:cNvSpPr txBox="1"/>
          <p:nvPr/>
        </p:nvSpPr>
        <p:spPr>
          <a:xfrm>
            <a:off x="3989918" y="3018432"/>
            <a:ext cx="2592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accent2">
                    <a:lumMod val="75000"/>
                  </a:schemeClr>
                </a:solidFill>
              </a:rPr>
              <a:t>Answer agent: </a:t>
            </a:r>
            <a:r>
              <a:rPr lang="en-US" sz="1400" dirty="0" smtClean="0"/>
              <a:t>food conversation</a:t>
            </a:r>
            <a:endParaRPr lang="en-US" sz="1400" dirty="0"/>
          </a:p>
        </p:txBody>
      </p:sp>
      <p:sp>
        <p:nvSpPr>
          <p:cNvPr id="15" name="Rounded Rectangle 14"/>
          <p:cNvSpPr/>
          <p:nvPr/>
        </p:nvSpPr>
        <p:spPr>
          <a:xfrm>
            <a:off x="8030634" y="2307683"/>
            <a:ext cx="2692400" cy="135043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8475134" y="2101044"/>
            <a:ext cx="1803400" cy="338666"/>
          </a:xfrm>
          <a:prstGeom prst="round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Tool Administration</a:t>
            </a:r>
            <a:endParaRPr lang="en-US" sz="1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8130118" y="2498632"/>
            <a:ext cx="2529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rgbClr val="00B050"/>
                </a:solidFill>
              </a:rPr>
              <a:t>View agent: </a:t>
            </a:r>
            <a:r>
              <a:rPr lang="en-US" sz="1400" dirty="0" smtClean="0"/>
              <a:t>image scene, text </a:t>
            </a:r>
            <a:endParaRPr lang="en-US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8130118" y="2739138"/>
            <a:ext cx="25294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rgbClr val="00B050"/>
                </a:solidFill>
              </a:rPr>
              <a:t>Rule agent: </a:t>
            </a:r>
            <a:r>
              <a:rPr lang="en-US" sz="1400" dirty="0" smtClean="0"/>
              <a:t>a group of people seating indoors.</a:t>
            </a:r>
            <a:endParaRPr lang="en-US" sz="1400" dirty="0"/>
          </a:p>
        </p:txBody>
      </p:sp>
      <p:sp>
        <p:nvSpPr>
          <p:cNvPr id="19" name="TextBox 18"/>
          <p:cNvSpPr txBox="1"/>
          <p:nvPr/>
        </p:nvSpPr>
        <p:spPr>
          <a:xfrm>
            <a:off x="8130118" y="3138798"/>
            <a:ext cx="2592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accent2">
                    <a:lumMod val="75000"/>
                  </a:schemeClr>
                </a:solidFill>
              </a:rPr>
              <a:t>Answer agent: </a:t>
            </a:r>
            <a:r>
              <a:rPr lang="en-US" sz="1400" dirty="0" smtClean="0"/>
              <a:t>talking about food-related issues</a:t>
            </a:r>
            <a:endParaRPr lang="en-US"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7074940" y="2982900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. . .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4854958" y="1807509"/>
            <a:ext cx="7633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bg1">
                    <a:lumMod val="65000"/>
                  </a:schemeClr>
                </a:solidFill>
              </a:rPr>
              <a:t>Epoch 1</a:t>
            </a:r>
            <a:endParaRPr 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044900" y="1816557"/>
            <a:ext cx="7873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bg1">
                    <a:lumMod val="65000"/>
                  </a:schemeClr>
                </a:solidFill>
              </a:rPr>
              <a:t>Epoch N</a:t>
            </a:r>
            <a:endParaRPr 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3217333" y="2814373"/>
            <a:ext cx="67310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3217333" y="3365392"/>
            <a:ext cx="67310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3426126" y="2957319"/>
            <a:ext cx="255515" cy="254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28" name="Rounded Rectangle 27"/>
          <p:cNvSpPr/>
          <p:nvPr/>
        </p:nvSpPr>
        <p:spPr>
          <a:xfrm>
            <a:off x="3890434" y="956734"/>
            <a:ext cx="6832599" cy="7366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endParaRPr lang="en-US" sz="1400" dirty="0"/>
          </a:p>
        </p:txBody>
      </p:sp>
      <p:sp>
        <p:nvSpPr>
          <p:cNvPr id="29" name="Oval 28"/>
          <p:cNvSpPr/>
          <p:nvPr/>
        </p:nvSpPr>
        <p:spPr>
          <a:xfrm>
            <a:off x="4075944" y="1198034"/>
            <a:ext cx="255515" cy="254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331459" y="991901"/>
            <a:ext cx="225946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Iterative self-learning </a:t>
            </a:r>
            <a:br>
              <a:rPr lang="en-US" dirty="0" smtClean="0"/>
            </a:br>
            <a:r>
              <a:rPr lang="en-US" dirty="0" smtClean="0"/>
              <a:t>of Tool Administration</a:t>
            </a:r>
            <a:endParaRPr lang="en-US" dirty="0"/>
          </a:p>
        </p:txBody>
      </p:sp>
      <p:sp>
        <p:nvSpPr>
          <p:cNvPr id="31" name="Oval 30"/>
          <p:cNvSpPr/>
          <p:nvPr/>
        </p:nvSpPr>
        <p:spPr>
          <a:xfrm>
            <a:off x="7573585" y="1188066"/>
            <a:ext cx="255515" cy="254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7829100" y="1011295"/>
            <a:ext cx="289393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Easily adapt to variations </a:t>
            </a:r>
            <a:br>
              <a:rPr lang="en-US" dirty="0" smtClean="0"/>
            </a:br>
            <a:r>
              <a:rPr lang="en-US" dirty="0" smtClean="0"/>
              <a:t>of new methods and models</a:t>
            </a:r>
            <a:endParaRPr lang="en-US" dirty="0"/>
          </a:p>
        </p:txBody>
      </p:sp>
      <p:sp>
        <p:nvSpPr>
          <p:cNvPr id="33" name="Rounded Rectangle 32"/>
          <p:cNvSpPr/>
          <p:nvPr/>
        </p:nvSpPr>
        <p:spPr>
          <a:xfrm>
            <a:off x="728133" y="3533915"/>
            <a:ext cx="2489200" cy="7366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1154997" y="3717549"/>
            <a:ext cx="6728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Tools</a:t>
            </a:r>
            <a:endParaRPr lang="en-US" dirty="0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5524" y="3612650"/>
            <a:ext cx="580761" cy="579129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728133" y="4270514"/>
            <a:ext cx="2489200" cy="736600"/>
          </a:xfrm>
          <a:prstGeom prst="round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le 36"/>
          <p:cNvSpPr/>
          <p:nvPr/>
        </p:nvSpPr>
        <p:spPr>
          <a:xfrm>
            <a:off x="728133" y="5083314"/>
            <a:ext cx="2489200" cy="736600"/>
          </a:xfrm>
          <a:prstGeom prst="roundRect">
            <a:avLst/>
          </a:prstGeom>
          <a:noFill/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1053616" y="4270513"/>
            <a:ext cx="8127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Image </a:t>
            </a:r>
            <a:br>
              <a:rPr lang="en-US" dirty="0" smtClean="0"/>
            </a:br>
            <a:r>
              <a:rPr lang="en-US" dirty="0" smtClean="0"/>
              <a:t>search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2191821" y="4453117"/>
            <a:ext cx="601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VQA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996806" y="5083314"/>
            <a:ext cx="9263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Sematic</a:t>
            </a:r>
            <a:br>
              <a:rPr lang="en-US" dirty="0" smtClean="0"/>
            </a:br>
            <a:r>
              <a:rPr lang="en-US" dirty="0" smtClean="0"/>
              <a:t>search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2159056" y="5221813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LLMs</a:t>
            </a:r>
            <a:endParaRPr lang="en-US" dirty="0"/>
          </a:p>
        </p:txBody>
      </p:sp>
      <p:sp>
        <p:nvSpPr>
          <p:cNvPr id="42" name="Rounded Rectangle 41"/>
          <p:cNvSpPr/>
          <p:nvPr/>
        </p:nvSpPr>
        <p:spPr>
          <a:xfrm>
            <a:off x="3553882" y="3662017"/>
            <a:ext cx="3521057" cy="1666831"/>
          </a:xfrm>
          <a:prstGeom prst="round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b="1" dirty="0"/>
          </a:p>
        </p:txBody>
      </p:sp>
      <p:sp>
        <p:nvSpPr>
          <p:cNvPr id="43" name="Rounded Rectangle 42"/>
          <p:cNvSpPr/>
          <p:nvPr/>
        </p:nvSpPr>
        <p:spPr>
          <a:xfrm>
            <a:off x="7284371" y="3662017"/>
            <a:ext cx="3521057" cy="1666831"/>
          </a:xfrm>
          <a:prstGeom prst="round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b="1" dirty="0"/>
          </a:p>
        </p:txBody>
      </p:sp>
      <p:sp>
        <p:nvSpPr>
          <p:cNvPr id="44" name="Rectangle 43"/>
          <p:cNvSpPr/>
          <p:nvPr/>
        </p:nvSpPr>
        <p:spPr>
          <a:xfrm>
            <a:off x="3890435" y="3769462"/>
            <a:ext cx="57746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/>
              <a:t>Top 1</a:t>
            </a:r>
            <a:endParaRPr lang="en-US" sz="1400" dirty="0"/>
          </a:p>
        </p:txBody>
      </p:sp>
      <p:sp>
        <p:nvSpPr>
          <p:cNvPr id="45" name="Rectangle 44"/>
          <p:cNvSpPr/>
          <p:nvPr/>
        </p:nvSpPr>
        <p:spPr>
          <a:xfrm>
            <a:off x="4990417" y="3769462"/>
            <a:ext cx="57746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/>
              <a:t>Top 2</a:t>
            </a:r>
            <a:endParaRPr lang="en-US" sz="1400" dirty="0"/>
          </a:p>
        </p:txBody>
      </p:sp>
      <p:sp>
        <p:nvSpPr>
          <p:cNvPr id="46" name="Rectangle 45"/>
          <p:cNvSpPr/>
          <p:nvPr/>
        </p:nvSpPr>
        <p:spPr>
          <a:xfrm>
            <a:off x="6269600" y="3780496"/>
            <a:ext cx="57906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/>
              <a:t>Top K</a:t>
            </a:r>
            <a:endParaRPr lang="en-US" sz="1400" dirty="0"/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2758" y="4048054"/>
            <a:ext cx="881837" cy="606354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3580966" y="4661277"/>
            <a:ext cx="1085420" cy="39797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 dirty="0" smtClean="0">
                <a:solidFill>
                  <a:schemeClr val="accent2">
                    <a:lumMod val="75000"/>
                  </a:schemeClr>
                </a:solidFill>
              </a:rPr>
              <a:t>Answer agent:</a:t>
            </a:r>
            <a:r>
              <a:rPr lang="en-US" sz="800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800" dirty="0" smtClean="0">
                <a:solidFill>
                  <a:schemeClr val="tx1"/>
                </a:solidFill>
              </a:rPr>
              <a:t>Food photography</a:t>
            </a:r>
            <a:endParaRPr lang="en-US" sz="800" dirty="0">
              <a:solidFill>
                <a:schemeClr val="tx1"/>
              </a:solidFill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6423" y="4036958"/>
            <a:ext cx="1006204" cy="624319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4696815" y="4661277"/>
            <a:ext cx="1085420" cy="39797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 dirty="0" smtClean="0">
                <a:solidFill>
                  <a:schemeClr val="accent2">
                    <a:lumMod val="75000"/>
                  </a:schemeClr>
                </a:solidFill>
              </a:rPr>
              <a:t>Answer agent: </a:t>
            </a:r>
            <a:r>
              <a:rPr lang="en-US" sz="800" dirty="0" smtClean="0">
                <a:solidFill>
                  <a:schemeClr val="tx1"/>
                </a:solidFill>
              </a:rPr>
              <a:t>get food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720265" y="4234393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. . .</a:t>
            </a:r>
            <a:endParaRPr lang="en-US" dirty="0"/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6249" y="4042375"/>
            <a:ext cx="825773" cy="618902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5976624" y="4661277"/>
            <a:ext cx="1085420" cy="39797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 dirty="0" smtClean="0">
                <a:solidFill>
                  <a:schemeClr val="accent2">
                    <a:lumMod val="75000"/>
                  </a:schemeClr>
                </a:solidFill>
              </a:rPr>
              <a:t>Answer agent: </a:t>
            </a:r>
            <a:r>
              <a:rPr lang="en-US" sz="800" dirty="0" smtClean="0">
                <a:solidFill>
                  <a:schemeClr val="tx1"/>
                </a:solidFill>
              </a:rPr>
              <a:t>discussion on the board</a:t>
            </a:r>
            <a:endParaRPr lang="en-US" sz="800" dirty="0">
              <a:solidFill>
                <a:schemeClr val="tx1"/>
              </a:solidFill>
            </a:endParaRPr>
          </a:p>
        </p:txBody>
      </p:sp>
      <p:pic>
        <p:nvPicPr>
          <p:cNvPr id="1026" name="Picture 2" descr="Red X Icon SVG Vector &amp; PNG Free Download | UXWi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9264" y="3818155"/>
            <a:ext cx="202898" cy="202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Rectangle 54"/>
          <p:cNvSpPr/>
          <p:nvPr/>
        </p:nvSpPr>
        <p:spPr>
          <a:xfrm>
            <a:off x="7612374" y="3769462"/>
            <a:ext cx="57746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/>
              <a:t>Top 1</a:t>
            </a:r>
            <a:endParaRPr lang="en-US" sz="1400" dirty="0"/>
          </a:p>
        </p:txBody>
      </p:sp>
      <p:sp>
        <p:nvSpPr>
          <p:cNvPr id="56" name="Rectangle 55"/>
          <p:cNvSpPr/>
          <p:nvPr/>
        </p:nvSpPr>
        <p:spPr>
          <a:xfrm>
            <a:off x="8712356" y="3769462"/>
            <a:ext cx="57746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/>
              <a:t>Top 2</a:t>
            </a:r>
            <a:endParaRPr lang="en-US" sz="1400" dirty="0"/>
          </a:p>
        </p:txBody>
      </p:sp>
      <p:sp>
        <p:nvSpPr>
          <p:cNvPr id="57" name="Rectangle 56"/>
          <p:cNvSpPr/>
          <p:nvPr/>
        </p:nvSpPr>
        <p:spPr>
          <a:xfrm>
            <a:off x="9991539" y="3780496"/>
            <a:ext cx="57906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/>
              <a:t>Top K</a:t>
            </a:r>
            <a:endParaRPr lang="en-US" sz="1400" dirty="0"/>
          </a:p>
        </p:txBody>
      </p:sp>
      <p:sp>
        <p:nvSpPr>
          <p:cNvPr id="59" name="Rounded Rectangle 58"/>
          <p:cNvSpPr/>
          <p:nvPr/>
        </p:nvSpPr>
        <p:spPr>
          <a:xfrm>
            <a:off x="7302905" y="4661277"/>
            <a:ext cx="1085420" cy="39797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 dirty="0" smtClean="0">
                <a:solidFill>
                  <a:schemeClr val="accent2">
                    <a:lumMod val="75000"/>
                  </a:schemeClr>
                </a:solidFill>
              </a:rPr>
              <a:t>Answer agent: </a:t>
            </a:r>
            <a:r>
              <a:rPr lang="en-US" sz="800" dirty="0" smtClean="0">
                <a:solidFill>
                  <a:schemeClr val="tx1"/>
                </a:solidFill>
              </a:rPr>
              <a:t>food-related issues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8418754" y="4661277"/>
            <a:ext cx="1085420" cy="39797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 dirty="0" smtClean="0">
                <a:solidFill>
                  <a:schemeClr val="accent2">
                    <a:lumMod val="75000"/>
                  </a:schemeClr>
                </a:solidFill>
              </a:rPr>
              <a:t>Answer agent: </a:t>
            </a:r>
            <a:r>
              <a:rPr lang="en-US" sz="800" dirty="0" smtClean="0">
                <a:solidFill>
                  <a:schemeClr val="tx1"/>
                </a:solidFill>
              </a:rPr>
              <a:t>CEO Roundtable dinner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442204" y="4234393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. . .</a:t>
            </a:r>
            <a:endParaRPr lang="en-US" dirty="0"/>
          </a:p>
        </p:txBody>
      </p:sp>
      <p:sp>
        <p:nvSpPr>
          <p:cNvPr id="64" name="Rounded Rectangle 63"/>
          <p:cNvSpPr/>
          <p:nvPr/>
        </p:nvSpPr>
        <p:spPr>
          <a:xfrm>
            <a:off x="9698563" y="4661277"/>
            <a:ext cx="1085420" cy="39797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 dirty="0" smtClean="0">
                <a:solidFill>
                  <a:schemeClr val="accent2">
                    <a:lumMod val="75000"/>
                  </a:schemeClr>
                </a:solidFill>
              </a:rPr>
              <a:t>Answer agent: </a:t>
            </a:r>
            <a:r>
              <a:rPr lang="en-US" sz="800" dirty="0" smtClean="0">
                <a:solidFill>
                  <a:schemeClr val="tx1"/>
                </a:solidFill>
              </a:rPr>
              <a:t>food crisis talks</a:t>
            </a:r>
            <a:endParaRPr lang="en-US" sz="800" dirty="0">
              <a:solidFill>
                <a:schemeClr val="tx1"/>
              </a:solidFill>
            </a:endParaRPr>
          </a:p>
        </p:txBody>
      </p:sp>
      <p:pic>
        <p:nvPicPr>
          <p:cNvPr id="1028" name="Picture 4" descr="Tập tin:Flat tick icon.svg – Wikipedia tiếng Việt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8924" y="3846521"/>
            <a:ext cx="175725" cy="17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5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96169" y="4025034"/>
            <a:ext cx="1098983" cy="629374"/>
          </a:xfrm>
          <a:prstGeom prst="rect">
            <a:avLst/>
          </a:prstGeom>
        </p:spPr>
      </p:pic>
      <p:pic>
        <p:nvPicPr>
          <p:cNvPr id="66" name="Picture 6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25202" y="4021053"/>
            <a:ext cx="1092128" cy="623155"/>
          </a:xfrm>
          <a:prstGeom prst="rect">
            <a:avLst/>
          </a:prstGeom>
        </p:spPr>
      </p:pic>
      <p:pic>
        <p:nvPicPr>
          <p:cNvPr id="67" name="Picture 6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32295" y="4022358"/>
            <a:ext cx="890738" cy="637012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728133" y="209718"/>
            <a:ext cx="3140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Phương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pháp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chúng</a:t>
            </a:r>
            <a:r>
              <a:rPr lang="en-US" b="1" dirty="0" smtClean="0">
                <a:solidFill>
                  <a:srgbClr val="FF0000"/>
                </a:solidFill>
              </a:rPr>
              <a:t> ta </a:t>
            </a:r>
            <a:r>
              <a:rPr lang="en-US" b="1" dirty="0" err="1" smtClean="0">
                <a:solidFill>
                  <a:srgbClr val="FF0000"/>
                </a:solidFill>
              </a:rPr>
              <a:t>đề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xuất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036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03624" y="1938128"/>
            <a:ext cx="85726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Dựa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trên</a:t>
            </a:r>
            <a:r>
              <a:rPr lang="en-US" b="1" dirty="0" smtClean="0">
                <a:solidFill>
                  <a:srgbClr val="FF0000"/>
                </a:solidFill>
              </a:rPr>
              <a:t> code </a:t>
            </a:r>
            <a:r>
              <a:rPr lang="en-US" b="1" dirty="0" err="1" smtClean="0">
                <a:solidFill>
                  <a:srgbClr val="FF0000"/>
                </a:solidFill>
              </a:rPr>
              <a:t>sau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để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làm</a:t>
            </a:r>
            <a:r>
              <a:rPr lang="en-US" b="1" dirty="0" smtClean="0">
                <a:solidFill>
                  <a:srgbClr val="FF0000"/>
                </a:solidFill>
              </a:rPr>
              <a:t> baseline </a:t>
            </a:r>
            <a:r>
              <a:rPr lang="en-US" b="1" dirty="0" err="1" smtClean="0">
                <a:solidFill>
                  <a:srgbClr val="FF0000"/>
                </a:solidFill>
              </a:rPr>
              <a:t>và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cải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thiện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theo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hình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vẽ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mà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thầy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vẽ</a:t>
            </a:r>
            <a:r>
              <a:rPr lang="en-US" b="1" dirty="0" smtClean="0">
                <a:solidFill>
                  <a:srgbClr val="FF0000"/>
                </a:solidFill>
              </a:rPr>
              <a:t> ở </a:t>
            </a:r>
            <a:r>
              <a:rPr lang="en-US" b="1" dirty="0" err="1" smtClean="0">
                <a:solidFill>
                  <a:srgbClr val="FF0000"/>
                </a:solidFill>
              </a:rPr>
              <a:t>trên</a:t>
            </a:r>
            <a:r>
              <a:rPr lang="en-US" b="1" dirty="0" smtClean="0">
                <a:solidFill>
                  <a:srgbClr val="FF0000"/>
                </a:solidFill>
              </a:rPr>
              <a:t>. Method </a:t>
            </a:r>
            <a:r>
              <a:rPr lang="en-US" b="1" dirty="0" err="1" smtClean="0">
                <a:solidFill>
                  <a:srgbClr val="FF0000"/>
                </a:solidFill>
              </a:rPr>
              <a:t>thầy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vẽ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là</a:t>
            </a:r>
            <a:r>
              <a:rPr lang="en-US" b="1" dirty="0" smtClean="0">
                <a:solidFill>
                  <a:srgbClr val="FF0000"/>
                </a:solidFill>
              </a:rPr>
              <a:t> method </a:t>
            </a:r>
            <a:r>
              <a:rPr lang="en-US" b="1" dirty="0" err="1" smtClean="0">
                <a:solidFill>
                  <a:srgbClr val="FF0000"/>
                </a:solidFill>
              </a:rPr>
              <a:t>mới</a:t>
            </a:r>
            <a:r>
              <a:rPr lang="en-US" b="1" dirty="0" smtClean="0">
                <a:solidFill>
                  <a:srgbClr val="FF0000"/>
                </a:solidFill>
              </a:rPr>
              <a:t>, </a:t>
            </a:r>
            <a:r>
              <a:rPr lang="en-US" b="1" dirty="0" err="1" smtClean="0">
                <a:solidFill>
                  <a:srgbClr val="FF0000"/>
                </a:solidFill>
              </a:rPr>
              <a:t>nhưng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mình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vẫn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cần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có</a:t>
            </a:r>
            <a:r>
              <a:rPr lang="en-US" b="1" dirty="0" smtClean="0">
                <a:solidFill>
                  <a:srgbClr val="FF0000"/>
                </a:solidFill>
              </a:rPr>
              <a:t> baseline code </a:t>
            </a:r>
            <a:r>
              <a:rPr lang="en-US" b="1" dirty="0" err="1" smtClean="0">
                <a:solidFill>
                  <a:srgbClr val="FF0000"/>
                </a:solidFill>
              </a:rPr>
              <a:t>để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cải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thiện</a:t>
            </a:r>
            <a:r>
              <a:rPr lang="en-US" b="1" dirty="0" smtClean="0">
                <a:solidFill>
                  <a:srgbClr val="FF0000"/>
                </a:solidFill>
              </a:rPr>
              <a:t>. </a:t>
            </a:r>
            <a:br>
              <a:rPr lang="en-US" b="1" dirty="0" smtClean="0">
                <a:solidFill>
                  <a:srgbClr val="FF0000"/>
                </a:solidFill>
              </a:rPr>
            </a:br>
            <a:r>
              <a:rPr lang="en-US" b="1" dirty="0" smtClean="0">
                <a:solidFill>
                  <a:srgbClr val="FF0000"/>
                </a:solidFill>
              </a:rPr>
              <a:t/>
            </a:r>
            <a:br>
              <a:rPr lang="en-US" b="1" dirty="0" smtClean="0">
                <a:solidFill>
                  <a:srgbClr val="FF0000"/>
                </a:solidFill>
              </a:rPr>
            </a:br>
            <a:r>
              <a:rPr lang="en-US" b="1" dirty="0" smtClean="0">
                <a:solidFill>
                  <a:srgbClr val="FF0000"/>
                </a:solidFill>
              </a:rPr>
              <a:t>Link </a:t>
            </a:r>
            <a:r>
              <a:rPr lang="en-US" b="1" dirty="0" err="1" smtClean="0">
                <a:solidFill>
                  <a:srgbClr val="FF0000"/>
                </a:solidFill>
              </a:rPr>
              <a:t>github</a:t>
            </a:r>
            <a:r>
              <a:rPr lang="en-US" b="1" dirty="0" smtClean="0">
                <a:solidFill>
                  <a:srgbClr val="FF0000"/>
                </a:solidFill>
              </a:rPr>
              <a:t>: </a:t>
            </a:r>
            <a:r>
              <a:rPr lang="en-US" b="1" dirty="0" smtClean="0">
                <a:solidFill>
                  <a:srgbClr val="0070C0"/>
                </a:solidFill>
                <a:hlinkClick r:id="rId2"/>
              </a:rPr>
              <a:t>https://github.com/aiming-lab/ReAgent-V</a:t>
            </a:r>
            <a:r>
              <a:rPr lang="en-US" b="1" dirty="0" smtClean="0">
                <a:solidFill>
                  <a:srgbClr val="0070C0"/>
                </a:solidFill>
              </a:rPr>
              <a:t> </a:t>
            </a:r>
            <a:endParaRPr lang="en-US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6962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28133" y="209718"/>
            <a:ext cx="7232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Nghĩ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và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vẽ</a:t>
            </a:r>
            <a:r>
              <a:rPr lang="en-US" b="1" dirty="0" smtClean="0">
                <a:solidFill>
                  <a:srgbClr val="FF0000"/>
                </a:solidFill>
              </a:rPr>
              <a:t> 1 </a:t>
            </a:r>
            <a:r>
              <a:rPr lang="en-US" b="1" dirty="0" err="1" smtClean="0">
                <a:solidFill>
                  <a:srgbClr val="FF0000"/>
                </a:solidFill>
              </a:rPr>
              <a:t>hình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tương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tự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hình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dưới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cho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phương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pháp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đề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xuất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của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mình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865" y="1107546"/>
            <a:ext cx="11227273" cy="5005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81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8133" y="209718"/>
            <a:ext cx="7232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Nghĩ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và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vẽ</a:t>
            </a:r>
            <a:r>
              <a:rPr lang="en-US" b="1" dirty="0" smtClean="0">
                <a:solidFill>
                  <a:srgbClr val="FF0000"/>
                </a:solidFill>
              </a:rPr>
              <a:t> 1 </a:t>
            </a:r>
            <a:r>
              <a:rPr lang="en-US" b="1" dirty="0" err="1" smtClean="0">
                <a:solidFill>
                  <a:srgbClr val="FF0000"/>
                </a:solidFill>
              </a:rPr>
              <a:t>hình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tương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tự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hình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dưới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cho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phương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pháp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đề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xuất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của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mình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74" y="924453"/>
            <a:ext cx="11839430" cy="3740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445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6580" y="279386"/>
            <a:ext cx="10984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Chạy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và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điền</a:t>
            </a:r>
            <a:r>
              <a:rPr lang="en-US" b="1" dirty="0" smtClean="0">
                <a:solidFill>
                  <a:srgbClr val="FF0000"/>
                </a:solidFill>
              </a:rPr>
              <a:t> 1 </a:t>
            </a:r>
            <a:r>
              <a:rPr lang="en-US" b="1" dirty="0" err="1" smtClean="0">
                <a:solidFill>
                  <a:srgbClr val="FF0000"/>
                </a:solidFill>
              </a:rPr>
              <a:t>bảng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tương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tự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bảng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dưới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cho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phương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pháp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đề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xuất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của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mình</a:t>
            </a:r>
            <a:r>
              <a:rPr lang="en-US" b="1" dirty="0" smtClean="0">
                <a:solidFill>
                  <a:srgbClr val="FF0000"/>
                </a:solidFill>
              </a:rPr>
              <a:t>. </a:t>
            </a:r>
            <a:r>
              <a:rPr lang="en-US" b="1" dirty="0" err="1" smtClean="0">
                <a:solidFill>
                  <a:srgbClr val="FF0000"/>
                </a:solidFill>
              </a:rPr>
              <a:t>Họ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chạy</a:t>
            </a:r>
            <a:r>
              <a:rPr lang="en-US" b="1" dirty="0" smtClean="0">
                <a:solidFill>
                  <a:srgbClr val="FF0000"/>
                </a:solidFill>
              </a:rPr>
              <a:t> 7 method </a:t>
            </a:r>
            <a:r>
              <a:rPr lang="en-US" b="1" dirty="0" err="1" smtClean="0">
                <a:solidFill>
                  <a:srgbClr val="FF0000"/>
                </a:solidFill>
              </a:rPr>
              <a:t>thì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cũng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cũng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phải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chạy</a:t>
            </a:r>
            <a:r>
              <a:rPr lang="en-US" b="1" dirty="0" smtClean="0">
                <a:solidFill>
                  <a:srgbClr val="FF0000"/>
                </a:solidFill>
              </a:rPr>
              <a:t> 7 method, </a:t>
            </a:r>
            <a:r>
              <a:rPr lang="en-US" b="1" dirty="0" err="1" smtClean="0">
                <a:solidFill>
                  <a:srgbClr val="FF0000"/>
                </a:solidFill>
              </a:rPr>
              <a:t>hơn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thì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càng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tốt</a:t>
            </a:r>
            <a:r>
              <a:rPr lang="en-US" b="1" dirty="0" smtClean="0">
                <a:solidFill>
                  <a:srgbClr val="FF0000"/>
                </a:solidFill>
              </a:rPr>
              <a:t>.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476" y="1230901"/>
            <a:ext cx="7886701" cy="4475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768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6580" y="279386"/>
            <a:ext cx="10984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Chạy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và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điền</a:t>
            </a:r>
            <a:r>
              <a:rPr lang="en-US" b="1" dirty="0" smtClean="0">
                <a:solidFill>
                  <a:srgbClr val="FF0000"/>
                </a:solidFill>
              </a:rPr>
              <a:t> 1 </a:t>
            </a:r>
            <a:r>
              <a:rPr lang="en-US" b="1" dirty="0" err="1" smtClean="0">
                <a:solidFill>
                  <a:srgbClr val="FF0000"/>
                </a:solidFill>
              </a:rPr>
              <a:t>bảng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tương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tự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bảng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dưới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cho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phương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pháp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đề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xuất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của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mình</a:t>
            </a:r>
            <a:r>
              <a:rPr lang="en-US" b="1" dirty="0" smtClean="0">
                <a:solidFill>
                  <a:srgbClr val="FF0000"/>
                </a:solidFill>
              </a:rPr>
              <a:t>. </a:t>
            </a:r>
            <a:r>
              <a:rPr lang="en-US" b="1" dirty="0" err="1" smtClean="0">
                <a:solidFill>
                  <a:srgbClr val="FF0000"/>
                </a:solidFill>
              </a:rPr>
              <a:t>Họ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chạy</a:t>
            </a:r>
            <a:r>
              <a:rPr lang="en-US" b="1" dirty="0" smtClean="0">
                <a:solidFill>
                  <a:srgbClr val="FF0000"/>
                </a:solidFill>
              </a:rPr>
              <a:t> 7 method </a:t>
            </a:r>
            <a:r>
              <a:rPr lang="en-US" b="1" dirty="0" err="1" smtClean="0">
                <a:solidFill>
                  <a:srgbClr val="FF0000"/>
                </a:solidFill>
              </a:rPr>
              <a:t>thì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cũng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cũng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phải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chạy</a:t>
            </a:r>
            <a:r>
              <a:rPr lang="en-US" b="1" dirty="0" smtClean="0">
                <a:solidFill>
                  <a:srgbClr val="FF0000"/>
                </a:solidFill>
              </a:rPr>
              <a:t> 7 method, </a:t>
            </a:r>
            <a:r>
              <a:rPr lang="en-US" b="1" dirty="0" err="1" smtClean="0">
                <a:solidFill>
                  <a:srgbClr val="FF0000"/>
                </a:solidFill>
              </a:rPr>
              <a:t>hơn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thì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càng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tốt</a:t>
            </a:r>
            <a:r>
              <a:rPr lang="en-US" b="1" dirty="0" smtClean="0">
                <a:solidFill>
                  <a:srgbClr val="FF0000"/>
                </a:solidFill>
              </a:rPr>
              <a:t>.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467" y="1325033"/>
            <a:ext cx="8655244" cy="3661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230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145" y="962025"/>
            <a:ext cx="6200775" cy="58959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580" y="279386"/>
            <a:ext cx="10984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Chạy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và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điền</a:t>
            </a:r>
            <a:r>
              <a:rPr lang="en-US" b="1" dirty="0" smtClean="0">
                <a:solidFill>
                  <a:srgbClr val="FF0000"/>
                </a:solidFill>
              </a:rPr>
              <a:t> 1 </a:t>
            </a:r>
            <a:r>
              <a:rPr lang="en-US" b="1" dirty="0" err="1" smtClean="0">
                <a:solidFill>
                  <a:srgbClr val="FF0000"/>
                </a:solidFill>
              </a:rPr>
              <a:t>bảng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tương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tự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bảng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dưới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cho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phương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pháp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đề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xuất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của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mình</a:t>
            </a:r>
            <a:r>
              <a:rPr lang="en-US" b="1" dirty="0" smtClean="0">
                <a:solidFill>
                  <a:srgbClr val="FF0000"/>
                </a:solidFill>
              </a:rPr>
              <a:t>. </a:t>
            </a:r>
            <a:r>
              <a:rPr lang="en-US" b="1" dirty="0" err="1" smtClean="0">
                <a:solidFill>
                  <a:srgbClr val="FF0000"/>
                </a:solidFill>
              </a:rPr>
              <a:t>Họ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chạy</a:t>
            </a:r>
            <a:r>
              <a:rPr lang="en-US" b="1" dirty="0" smtClean="0">
                <a:solidFill>
                  <a:srgbClr val="FF0000"/>
                </a:solidFill>
              </a:rPr>
              <a:t> 7 method </a:t>
            </a:r>
            <a:r>
              <a:rPr lang="en-US" b="1" dirty="0" err="1" smtClean="0">
                <a:solidFill>
                  <a:srgbClr val="FF0000"/>
                </a:solidFill>
              </a:rPr>
              <a:t>thì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cũng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cũng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phải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chạy</a:t>
            </a:r>
            <a:r>
              <a:rPr lang="en-US" b="1" dirty="0" smtClean="0">
                <a:solidFill>
                  <a:srgbClr val="FF0000"/>
                </a:solidFill>
              </a:rPr>
              <a:t> 7 method, </a:t>
            </a:r>
            <a:r>
              <a:rPr lang="en-US" b="1" dirty="0" err="1" smtClean="0">
                <a:solidFill>
                  <a:srgbClr val="FF0000"/>
                </a:solidFill>
              </a:rPr>
              <a:t>hơn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thì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càng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tốt</a:t>
            </a:r>
            <a:r>
              <a:rPr lang="en-US" b="1" dirty="0" smtClean="0">
                <a:solidFill>
                  <a:srgbClr val="FF0000"/>
                </a:solidFill>
              </a:rPr>
              <a:t>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9141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062" y="1396999"/>
            <a:ext cx="9259575" cy="503766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580" y="279386"/>
            <a:ext cx="10984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Chạy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và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điền</a:t>
            </a:r>
            <a:r>
              <a:rPr lang="en-US" b="1" dirty="0" smtClean="0">
                <a:solidFill>
                  <a:srgbClr val="FF0000"/>
                </a:solidFill>
              </a:rPr>
              <a:t> 1 </a:t>
            </a:r>
            <a:r>
              <a:rPr lang="en-US" b="1" dirty="0" err="1" smtClean="0">
                <a:solidFill>
                  <a:srgbClr val="FF0000"/>
                </a:solidFill>
              </a:rPr>
              <a:t>bảng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tương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tự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bảng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dưới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cho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phương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pháp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đề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xuất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của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mình</a:t>
            </a:r>
            <a:r>
              <a:rPr lang="en-US" b="1" dirty="0" smtClean="0">
                <a:solidFill>
                  <a:srgbClr val="FF0000"/>
                </a:solidFill>
              </a:rPr>
              <a:t>. </a:t>
            </a:r>
            <a:r>
              <a:rPr lang="en-US" b="1" dirty="0" err="1" smtClean="0">
                <a:solidFill>
                  <a:srgbClr val="FF0000"/>
                </a:solidFill>
              </a:rPr>
              <a:t>Họ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chạy</a:t>
            </a:r>
            <a:r>
              <a:rPr lang="en-US" b="1" dirty="0" smtClean="0">
                <a:solidFill>
                  <a:srgbClr val="FF0000"/>
                </a:solidFill>
              </a:rPr>
              <a:t> 7 method </a:t>
            </a:r>
            <a:r>
              <a:rPr lang="en-US" b="1" dirty="0" err="1" smtClean="0">
                <a:solidFill>
                  <a:srgbClr val="FF0000"/>
                </a:solidFill>
              </a:rPr>
              <a:t>thì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cũng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cũng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phải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chạy</a:t>
            </a:r>
            <a:r>
              <a:rPr lang="en-US" b="1" dirty="0" smtClean="0">
                <a:solidFill>
                  <a:srgbClr val="FF0000"/>
                </a:solidFill>
              </a:rPr>
              <a:t> 7 method, </a:t>
            </a:r>
            <a:r>
              <a:rPr lang="en-US" b="1" dirty="0" err="1" smtClean="0">
                <a:solidFill>
                  <a:srgbClr val="FF0000"/>
                </a:solidFill>
              </a:rPr>
              <a:t>hơn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thì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càng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tốt</a:t>
            </a:r>
            <a:r>
              <a:rPr lang="en-US" b="1" dirty="0" smtClean="0">
                <a:solidFill>
                  <a:srgbClr val="FF0000"/>
                </a:solidFill>
              </a:rPr>
              <a:t>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2718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79" y="2322512"/>
            <a:ext cx="11370375" cy="262202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580" y="279386"/>
            <a:ext cx="10984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Chạy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và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điền</a:t>
            </a:r>
            <a:r>
              <a:rPr lang="en-US" b="1" dirty="0" smtClean="0">
                <a:solidFill>
                  <a:srgbClr val="FF0000"/>
                </a:solidFill>
              </a:rPr>
              <a:t> 1 </a:t>
            </a:r>
            <a:r>
              <a:rPr lang="en-US" b="1" dirty="0" err="1" smtClean="0">
                <a:solidFill>
                  <a:srgbClr val="FF0000"/>
                </a:solidFill>
              </a:rPr>
              <a:t>bảng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tương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tự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bảng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dưới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cho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phương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pháp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đề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xuất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của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mình</a:t>
            </a:r>
            <a:r>
              <a:rPr lang="en-US" b="1" dirty="0" smtClean="0">
                <a:solidFill>
                  <a:srgbClr val="FF0000"/>
                </a:solidFill>
              </a:rPr>
              <a:t>. </a:t>
            </a:r>
            <a:r>
              <a:rPr lang="en-US" b="1" dirty="0" err="1" smtClean="0">
                <a:solidFill>
                  <a:srgbClr val="FF0000"/>
                </a:solidFill>
              </a:rPr>
              <a:t>Họ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chạy</a:t>
            </a:r>
            <a:r>
              <a:rPr lang="en-US" b="1" dirty="0" smtClean="0">
                <a:solidFill>
                  <a:srgbClr val="FF0000"/>
                </a:solidFill>
              </a:rPr>
              <a:t> 7 method </a:t>
            </a:r>
            <a:r>
              <a:rPr lang="en-US" b="1" dirty="0" err="1" smtClean="0">
                <a:solidFill>
                  <a:srgbClr val="FF0000"/>
                </a:solidFill>
              </a:rPr>
              <a:t>thì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cũng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cũng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phải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chạy</a:t>
            </a:r>
            <a:r>
              <a:rPr lang="en-US" b="1" dirty="0" smtClean="0">
                <a:solidFill>
                  <a:srgbClr val="FF0000"/>
                </a:solidFill>
              </a:rPr>
              <a:t> 7 method, </a:t>
            </a:r>
            <a:r>
              <a:rPr lang="en-US" b="1" dirty="0" err="1" smtClean="0">
                <a:solidFill>
                  <a:srgbClr val="FF0000"/>
                </a:solidFill>
              </a:rPr>
              <a:t>hơn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thì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càng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tốt</a:t>
            </a:r>
            <a:r>
              <a:rPr lang="en-US" b="1" dirty="0" smtClean="0">
                <a:solidFill>
                  <a:srgbClr val="FF0000"/>
                </a:solidFill>
              </a:rPr>
              <a:t>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2910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479" y="1667404"/>
            <a:ext cx="8022619" cy="46317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580" y="279386"/>
            <a:ext cx="10984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Chạy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và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điền</a:t>
            </a:r>
            <a:r>
              <a:rPr lang="en-US" b="1" dirty="0" smtClean="0">
                <a:solidFill>
                  <a:srgbClr val="FF0000"/>
                </a:solidFill>
              </a:rPr>
              <a:t> 1 </a:t>
            </a:r>
            <a:r>
              <a:rPr lang="en-US" b="1" dirty="0" err="1" smtClean="0">
                <a:solidFill>
                  <a:srgbClr val="FF0000"/>
                </a:solidFill>
              </a:rPr>
              <a:t>bảng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tương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tự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bảng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dưới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cho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phương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pháp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đề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xuất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của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mình</a:t>
            </a:r>
            <a:r>
              <a:rPr lang="en-US" b="1" dirty="0" smtClean="0">
                <a:solidFill>
                  <a:srgbClr val="FF0000"/>
                </a:solidFill>
              </a:rPr>
              <a:t>. </a:t>
            </a:r>
            <a:r>
              <a:rPr lang="en-US" b="1" dirty="0" err="1" smtClean="0">
                <a:solidFill>
                  <a:srgbClr val="FF0000"/>
                </a:solidFill>
              </a:rPr>
              <a:t>Họ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chạy</a:t>
            </a:r>
            <a:r>
              <a:rPr lang="en-US" b="1" dirty="0" smtClean="0">
                <a:solidFill>
                  <a:srgbClr val="FF0000"/>
                </a:solidFill>
              </a:rPr>
              <a:t> 7 method </a:t>
            </a:r>
            <a:r>
              <a:rPr lang="en-US" b="1" dirty="0" err="1" smtClean="0">
                <a:solidFill>
                  <a:srgbClr val="FF0000"/>
                </a:solidFill>
              </a:rPr>
              <a:t>thì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cũng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cũng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phải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chạy</a:t>
            </a:r>
            <a:r>
              <a:rPr lang="en-US" b="1" dirty="0" smtClean="0">
                <a:solidFill>
                  <a:srgbClr val="FF0000"/>
                </a:solidFill>
              </a:rPr>
              <a:t> 7 method, </a:t>
            </a:r>
            <a:r>
              <a:rPr lang="en-US" b="1" dirty="0" err="1" smtClean="0">
                <a:solidFill>
                  <a:srgbClr val="FF0000"/>
                </a:solidFill>
              </a:rPr>
              <a:t>hơn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thì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càng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tốt</a:t>
            </a:r>
            <a:r>
              <a:rPr lang="en-US" b="1" dirty="0" smtClean="0">
                <a:solidFill>
                  <a:srgbClr val="FF0000"/>
                </a:solidFill>
              </a:rPr>
              <a:t>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589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404" y="2690282"/>
            <a:ext cx="7628996" cy="32719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580" y="279386"/>
            <a:ext cx="10984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Chạy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và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điền</a:t>
            </a:r>
            <a:r>
              <a:rPr lang="en-US" b="1" dirty="0" smtClean="0">
                <a:solidFill>
                  <a:srgbClr val="FF0000"/>
                </a:solidFill>
              </a:rPr>
              <a:t> 1 </a:t>
            </a:r>
            <a:r>
              <a:rPr lang="en-US" b="1" dirty="0" err="1" smtClean="0">
                <a:solidFill>
                  <a:srgbClr val="FF0000"/>
                </a:solidFill>
              </a:rPr>
              <a:t>bảng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tương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tự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bảng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dưới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cho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phương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pháp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đề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xuất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của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mình</a:t>
            </a:r>
            <a:r>
              <a:rPr lang="en-US" b="1" dirty="0" smtClean="0">
                <a:solidFill>
                  <a:srgbClr val="FF0000"/>
                </a:solidFill>
              </a:rPr>
              <a:t>. </a:t>
            </a:r>
            <a:r>
              <a:rPr lang="en-US" b="1" dirty="0" err="1" smtClean="0">
                <a:solidFill>
                  <a:srgbClr val="FF0000"/>
                </a:solidFill>
              </a:rPr>
              <a:t>Họ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chạy</a:t>
            </a:r>
            <a:r>
              <a:rPr lang="en-US" b="1" dirty="0" smtClean="0">
                <a:solidFill>
                  <a:srgbClr val="FF0000"/>
                </a:solidFill>
              </a:rPr>
              <a:t> 7 method </a:t>
            </a:r>
            <a:r>
              <a:rPr lang="en-US" b="1" dirty="0" err="1" smtClean="0">
                <a:solidFill>
                  <a:srgbClr val="FF0000"/>
                </a:solidFill>
              </a:rPr>
              <a:t>thì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cũng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cũng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phải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chạy</a:t>
            </a:r>
            <a:r>
              <a:rPr lang="en-US" b="1" dirty="0" smtClean="0">
                <a:solidFill>
                  <a:srgbClr val="FF0000"/>
                </a:solidFill>
              </a:rPr>
              <a:t> 7 method, </a:t>
            </a:r>
            <a:r>
              <a:rPr lang="en-US" b="1" dirty="0" err="1" smtClean="0">
                <a:solidFill>
                  <a:srgbClr val="FF0000"/>
                </a:solidFill>
              </a:rPr>
              <a:t>hơn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thì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càng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tốt</a:t>
            </a:r>
            <a:r>
              <a:rPr lang="en-US" b="1" dirty="0" smtClean="0">
                <a:solidFill>
                  <a:srgbClr val="FF0000"/>
                </a:solidFill>
              </a:rPr>
              <a:t>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7834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456</Words>
  <Application>Microsoft Office PowerPoint</Application>
  <PresentationFormat>Widescreen</PresentationFormat>
  <Paragraphs>50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EvoAgent: Self-Evolving Tool Administration for Generalized Multimodal Retrieval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7</cp:revision>
  <dcterms:created xsi:type="dcterms:W3CDTF">2026-09-14T07:39:33Z</dcterms:created>
  <dcterms:modified xsi:type="dcterms:W3CDTF">2026-09-14T09:00:24Z</dcterms:modified>
</cp:coreProperties>
</file>